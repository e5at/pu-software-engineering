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erriweather Light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Open Sans SemiBold"/>
      <p:regular r:id="rId21"/>
      <p:bold r:id="rId22"/>
      <p:italic r:id="rId23"/>
      <p:boldItalic r:id="rId24"/>
    </p:embeddedFont>
    <p:embeddedFont>
      <p:font typeface="Vidaloka"/>
      <p:regular r:id="rId25"/>
    </p:embeddedFont>
    <p:embeddedFont>
      <p:font typeface="Russo One"/>
      <p:regular r:id="rId26"/>
    </p:embeddedFont>
    <p:embeddedFont>
      <p:font typeface="Mako"/>
      <p:regular r:id="rId27"/>
    </p:embeddedFont>
    <p:embeddedFont>
      <p:font typeface="Crimson Text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rimsonText-boldItalic.fntdata"/><Relationship Id="rId30" Type="http://schemas.openxmlformats.org/officeDocument/2006/relationships/font" Target="fonts/CrimsonText-italic.fntdata"/><Relationship Id="rId33" Type="http://schemas.openxmlformats.org/officeDocument/2006/relationships/font" Target="fonts/OpenSans-bold.fntdata"/><Relationship Id="rId32" Type="http://schemas.openxmlformats.org/officeDocument/2006/relationships/font" Target="fonts/OpenSans-regular.fntdata"/><Relationship Id="rId35" Type="http://schemas.openxmlformats.org/officeDocument/2006/relationships/font" Target="fonts/OpenSans-boldItalic.fntdata"/><Relationship Id="rId34" Type="http://schemas.openxmlformats.org/officeDocument/2006/relationships/font" Target="fonts/OpenSans-italic.fntdata"/><Relationship Id="rId20" Type="http://schemas.openxmlformats.org/officeDocument/2006/relationships/font" Target="fonts/Montserrat-boldItalic.fntdata"/><Relationship Id="rId22" Type="http://schemas.openxmlformats.org/officeDocument/2006/relationships/font" Target="fonts/OpenSansSemiBold-bold.fntdata"/><Relationship Id="rId21" Type="http://schemas.openxmlformats.org/officeDocument/2006/relationships/font" Target="fonts/OpenSansSemiBold-regular.fntdata"/><Relationship Id="rId24" Type="http://schemas.openxmlformats.org/officeDocument/2006/relationships/font" Target="fonts/OpenSansSemiBold-boldItalic.fntdata"/><Relationship Id="rId23" Type="http://schemas.openxmlformats.org/officeDocument/2006/relationships/font" Target="fonts/OpenSansSemiBold-italic.fntdata"/><Relationship Id="rId26" Type="http://schemas.openxmlformats.org/officeDocument/2006/relationships/font" Target="fonts/RussoOne-regular.fntdata"/><Relationship Id="rId25" Type="http://schemas.openxmlformats.org/officeDocument/2006/relationships/font" Target="fonts/Vidaloka-regular.fntdata"/><Relationship Id="rId28" Type="http://schemas.openxmlformats.org/officeDocument/2006/relationships/font" Target="fonts/CrimsonText-regular.fntdata"/><Relationship Id="rId27" Type="http://schemas.openxmlformats.org/officeDocument/2006/relationships/font" Target="fonts/Mako-regular.fntdata"/><Relationship Id="rId29" Type="http://schemas.openxmlformats.org/officeDocument/2006/relationships/font" Target="fonts/CrimsonTex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erriweatherLight-regular.fntdata"/><Relationship Id="rId12" Type="http://schemas.openxmlformats.org/officeDocument/2006/relationships/slide" Target="slides/slide8.xml"/><Relationship Id="rId15" Type="http://schemas.openxmlformats.org/officeDocument/2006/relationships/font" Target="fonts/MerriweatherLight-italic.fntdata"/><Relationship Id="rId14" Type="http://schemas.openxmlformats.org/officeDocument/2006/relationships/font" Target="fonts/MerriweatherLight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erriweatherLight-boldItalic.fntdata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5aad17dc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5aad17dc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05aad17dc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05aad17dc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083f33e91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083f33e91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cc7554a049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cc7554a049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cc7554a049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cc7554a049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c7554a049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c7554a049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c7554a049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c7554a049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859325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859325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903925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903925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859325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859325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903925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903975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798575" y="1417915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4753975" y="1403976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798625" y="3176773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4753975" y="3162833"/>
            <a:ext cx="10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4" name="Google Shape;134;p18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39" name="Google Shape;139;p19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8" name="Google Shape;148;p20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/>
          <p:nvPr>
            <p:ph idx="1" type="subTitle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0" name="Google Shape;170;p23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2" name="Google Shape;172;p23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4" name="Google Shape;174;p23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3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7" name="Google Shape;177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8" name="Google Shape;188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4" name="Google Shape;194;p26"/>
          <p:cNvSpPr txBox="1"/>
          <p:nvPr>
            <p:ph hasCustomPrompt="1" idx="2" type="title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/>
          <p:nvPr>
            <p:ph idx="1" type="subTitle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6" name="Google Shape;196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4373850" y="944250"/>
            <a:ext cx="24753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1" name="Google Shape;201;p27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3" name="Google Shape;203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2" name="Google Shape;212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0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2" name="Google Shape;232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8" name="Google Shape;238;p31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1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0" name="Google Shape;240;p31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2" name="Google Shape;242;p31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8" name="Google Shape;24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 -">
  <p:cSld name="CUSTOM_3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4" name="Google Shape;254;p32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2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2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2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2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2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66" name="Google Shape;266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33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3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3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0" name="Google Shape;280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4" name="Google Shape;294;p35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5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5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2" name="Google Shape;30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6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6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2" name="Google Shape;312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3" name="Google Shape;323;p37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4" name="Google Shape;324;p37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7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6" name="Google Shape;326;p37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7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28" name="Google Shape;328;p37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7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7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7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7" name="Google Shape;337;p38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39" name="Google Shape;339;p38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8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1" name="Google Shape;341;p38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8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3" name="Google Shape;343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39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9" name="Google Shape;349;p39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9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1" name="Google Shape;351;p39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39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39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39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55" name="Google Shape;355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40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5" name="Google Shape;365;p40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0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67" name="Google Shape;367;p40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0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69" name="Google Shape;369;p40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0" name="Google Shape;370;p40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1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8" name="Google Shape;378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2" name="Google Shape;382;p42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2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4" name="Google Shape;384;p42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42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6" name="Google Shape;386;p42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42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43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8" name="Google Shape;398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2" name="Google Shape;402;p44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3" name="Google Shape;403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/>
          <p:nvPr>
            <p:ph idx="1" type="subTitle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08" name="Google Shape;408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6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19" name="Google Shape;419;p46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0" name="Google Shape;420;p46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3" name="Google Shape;423;p47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27" name="Google Shape;427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2" name="Google Shape;432;p48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8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4" name="Google Shape;434;p48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8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6" name="Google Shape;436;p48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7" name="Google Shape;437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3" name="Google Shape;443;p49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5F2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000"/>
              <a:buFont typeface="Vidaloka"/>
              <a:buNone/>
              <a:defRPr sz="3000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800"/>
              <a:buFont typeface="Montserrat"/>
              <a:buChar char="●"/>
              <a:defRPr sz="1800"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○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■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●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○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■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●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○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00"/>
              <a:buFont typeface="Montserrat"/>
              <a:buChar char="■"/>
              <a:defRPr>
                <a:solidFill>
                  <a:srgbClr val="1B1F3B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2EE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4"/>
          <p:cNvSpPr txBox="1"/>
          <p:nvPr>
            <p:ph type="ctrTitle"/>
          </p:nvPr>
        </p:nvSpPr>
        <p:spPr>
          <a:xfrm>
            <a:off x="1039950" y="2272248"/>
            <a:ext cx="70641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Drssed</a:t>
            </a:r>
            <a:endParaRPr sz="8000"/>
          </a:p>
        </p:txBody>
      </p:sp>
      <p:sp>
        <p:nvSpPr>
          <p:cNvPr id="473" name="Google Shape;473;p54"/>
          <p:cNvSpPr txBox="1"/>
          <p:nvPr>
            <p:ph idx="1" type="subTitle"/>
          </p:nvPr>
        </p:nvSpPr>
        <p:spPr>
          <a:xfrm>
            <a:off x="1040000" y="3387345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B1F3B"/>
                </a:solidFill>
              </a:rPr>
              <a:t>Wear the moment. Share the wardrobe.</a:t>
            </a:r>
            <a:endParaRPr sz="2100">
              <a:solidFill>
                <a:srgbClr val="1B1F3B"/>
              </a:solidFill>
            </a:endParaRPr>
          </a:p>
        </p:txBody>
      </p:sp>
      <p:pic>
        <p:nvPicPr>
          <p:cNvPr id="474" name="Google Shape;474;p54" title="logo-dark-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2052" y="698969"/>
            <a:ext cx="2919900" cy="17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5"/>
          <p:cNvSpPr txBox="1"/>
          <p:nvPr>
            <p:ph idx="1" type="subTitle"/>
          </p:nvPr>
        </p:nvSpPr>
        <p:spPr>
          <a:xfrm>
            <a:off x="3800725" y="1506845"/>
            <a:ext cx="51360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1B1F3B"/>
                </a:solidFill>
              </a:rPr>
              <a:t>Looking great shouldn't cost a fortune</a:t>
            </a:r>
            <a:endParaRPr b="1" sz="2400">
              <a:solidFill>
                <a:srgbClr val="1B1F3B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1B1F3B"/>
              </a:buClr>
              <a:buSzPts val="2400"/>
              <a:buChar char="●"/>
            </a:pPr>
            <a:r>
              <a:rPr lang="en" sz="2400">
                <a:solidFill>
                  <a:srgbClr val="1B1F3B"/>
                </a:solidFill>
              </a:rPr>
              <a:t>Formal wear is worn once, then forgotten</a:t>
            </a:r>
            <a:endParaRPr sz="2400">
              <a:solidFill>
                <a:srgbClr val="1B1F3B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Char char="●"/>
            </a:pPr>
            <a:r>
              <a:rPr lang="en" sz="2400">
                <a:solidFill>
                  <a:srgbClr val="1B1F3B"/>
                </a:solidFill>
              </a:rPr>
              <a:t>Buying is expensive. Owning is wasteful.</a:t>
            </a:r>
            <a:endParaRPr sz="2400">
              <a:solidFill>
                <a:srgbClr val="1B1F3B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400"/>
              <a:buChar char="●"/>
            </a:pPr>
            <a:r>
              <a:rPr lang="en" sz="2400">
                <a:solidFill>
                  <a:srgbClr val="1B1F3B"/>
                </a:solidFill>
              </a:rPr>
              <a:t>No solution exists in Bulgaria</a:t>
            </a:r>
            <a:endParaRPr sz="2400">
              <a:solidFill>
                <a:srgbClr val="1B1F3B"/>
              </a:solidFill>
            </a:endParaRPr>
          </a:p>
        </p:txBody>
      </p:sp>
      <p:sp>
        <p:nvSpPr>
          <p:cNvPr id="480" name="Google Shape;480;p55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The Problem</a:t>
            </a:r>
            <a:endParaRPr sz="5400"/>
          </a:p>
        </p:txBody>
      </p:sp>
      <p:pic>
        <p:nvPicPr>
          <p:cNvPr id="481" name="Google Shape;481;p55"/>
          <p:cNvPicPr preferRelativeResize="0"/>
          <p:nvPr/>
        </p:nvPicPr>
        <p:blipFill rotWithShape="1">
          <a:blip r:embed="rId3">
            <a:alphaModFix/>
          </a:blip>
          <a:srcRect b="0" l="13856" r="16307" t="0"/>
          <a:stretch/>
        </p:blipFill>
        <p:spPr>
          <a:xfrm>
            <a:off x="341150" y="1506850"/>
            <a:ext cx="3177375" cy="2730199"/>
          </a:xfrm>
          <a:prstGeom prst="rect">
            <a:avLst/>
          </a:prstGeom>
          <a:noFill/>
          <a:ln cap="flat" cmpd="sng" w="28575">
            <a:solidFill>
              <a:srgbClr val="1B1F3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/>
          <p:nvPr>
            <p:ph type="title"/>
          </p:nvPr>
        </p:nvSpPr>
        <p:spPr>
          <a:xfrm>
            <a:off x="3714050" y="1163856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Meet Drssed</a:t>
            </a:r>
            <a:endParaRPr sz="5400"/>
          </a:p>
        </p:txBody>
      </p:sp>
      <p:sp>
        <p:nvSpPr>
          <p:cNvPr id="487" name="Google Shape;487;p56"/>
          <p:cNvSpPr txBox="1"/>
          <p:nvPr>
            <p:ph idx="1" type="subTitle"/>
          </p:nvPr>
        </p:nvSpPr>
        <p:spPr>
          <a:xfrm>
            <a:off x="3714050" y="2056344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platform that connects people who have formal wear with people who need it for a night.</a:t>
            </a:r>
            <a:endParaRPr sz="2400"/>
          </a:p>
        </p:txBody>
      </p:sp>
      <p:pic>
        <p:nvPicPr>
          <p:cNvPr id="488" name="Google Shape;488;p56" title="1776096549495.jpg"/>
          <p:cNvPicPr preferRelativeResize="0"/>
          <p:nvPr/>
        </p:nvPicPr>
        <p:blipFill rotWithShape="1">
          <a:blip r:embed="rId3">
            <a:alphaModFix/>
          </a:blip>
          <a:srcRect b="17584" l="17805" r="17799" t="17578"/>
          <a:stretch/>
        </p:blipFill>
        <p:spPr>
          <a:xfrm>
            <a:off x="596950" y="1163850"/>
            <a:ext cx="2796600" cy="2815800"/>
          </a:xfrm>
          <a:prstGeom prst="rect">
            <a:avLst/>
          </a:prstGeom>
          <a:noFill/>
          <a:ln cap="flat" cmpd="sng" w="28575">
            <a:solidFill>
              <a:srgbClr val="1B1F3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"/>
          <p:cNvSpPr txBox="1"/>
          <p:nvPr>
            <p:ph idx="1" type="subTitle"/>
          </p:nvPr>
        </p:nvSpPr>
        <p:spPr>
          <a:xfrm>
            <a:off x="3480379" y="2782739"/>
            <a:ext cx="2472300" cy="542100"/>
          </a:xfrm>
          <a:prstGeom prst="rect">
            <a:avLst/>
          </a:prstGeom>
        </p:spPr>
        <p:txBody>
          <a:bodyPr anchorCtr="0" anchor="t" bIns="99750" lIns="99750" spcFirstLastPara="1" rIns="99750" wrap="square" tIns="9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18">
                <a:solidFill>
                  <a:srgbClr val="1B1F3B"/>
                </a:solidFill>
              </a:rPr>
              <a:t>Browse &amp; book</a:t>
            </a:r>
            <a:endParaRPr sz="2618">
              <a:solidFill>
                <a:srgbClr val="1B1F3B"/>
              </a:solidFill>
            </a:endParaRPr>
          </a:p>
        </p:txBody>
      </p:sp>
      <p:sp>
        <p:nvSpPr>
          <p:cNvPr id="494" name="Google Shape;494;p57"/>
          <p:cNvSpPr txBox="1"/>
          <p:nvPr>
            <p:ph idx="2" type="subTitle"/>
          </p:nvPr>
        </p:nvSpPr>
        <p:spPr>
          <a:xfrm>
            <a:off x="3584130" y="3221604"/>
            <a:ext cx="2198700" cy="624900"/>
          </a:xfrm>
          <a:prstGeom prst="rect">
            <a:avLst/>
          </a:prstGeom>
        </p:spPr>
        <p:txBody>
          <a:bodyPr anchorCtr="0" anchor="t" bIns="99750" lIns="99750" spcFirstLastPara="1" rIns="99750" wrap="square" tIns="9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527">
                <a:solidFill>
                  <a:srgbClr val="1B1F3B"/>
                </a:solidFill>
              </a:rPr>
              <a:t>Find the perfect outfit and reserve it.</a:t>
            </a:r>
            <a:endParaRPr sz="1527">
              <a:solidFill>
                <a:srgbClr val="1B1F3B"/>
              </a:solidFill>
            </a:endParaRPr>
          </a:p>
        </p:txBody>
      </p:sp>
      <p:sp>
        <p:nvSpPr>
          <p:cNvPr id="495" name="Google Shape;495;p57"/>
          <p:cNvSpPr txBox="1"/>
          <p:nvPr>
            <p:ph idx="3" type="subTitle"/>
          </p:nvPr>
        </p:nvSpPr>
        <p:spPr>
          <a:xfrm>
            <a:off x="183476" y="2782739"/>
            <a:ext cx="2745900" cy="542100"/>
          </a:xfrm>
          <a:prstGeom prst="rect">
            <a:avLst/>
          </a:prstGeom>
        </p:spPr>
        <p:txBody>
          <a:bodyPr anchorCtr="0" anchor="t" bIns="99750" lIns="99750" spcFirstLastPara="1" rIns="99750" wrap="square" tIns="9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18">
                <a:solidFill>
                  <a:srgbClr val="1B1F3B"/>
                </a:solidFill>
              </a:rPr>
              <a:t>List your outfit</a:t>
            </a:r>
            <a:endParaRPr sz="2618">
              <a:solidFill>
                <a:srgbClr val="1B1F3B"/>
              </a:solidFill>
            </a:endParaRPr>
          </a:p>
        </p:txBody>
      </p:sp>
      <p:sp>
        <p:nvSpPr>
          <p:cNvPr id="496" name="Google Shape;496;p57"/>
          <p:cNvSpPr txBox="1"/>
          <p:nvPr>
            <p:ph idx="4" type="subTitle"/>
          </p:nvPr>
        </p:nvSpPr>
        <p:spPr>
          <a:xfrm>
            <a:off x="457091" y="3221604"/>
            <a:ext cx="2198700" cy="624900"/>
          </a:xfrm>
          <a:prstGeom prst="rect">
            <a:avLst/>
          </a:prstGeom>
        </p:spPr>
        <p:txBody>
          <a:bodyPr anchorCtr="0" anchor="t" bIns="99750" lIns="99750" spcFirstLastPara="1" rIns="99750" wrap="square" tIns="9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527">
                <a:solidFill>
                  <a:srgbClr val="1B1F3B"/>
                </a:solidFill>
              </a:rPr>
              <a:t>Take a few photos, set your price, and publish.</a:t>
            </a:r>
            <a:endParaRPr sz="1527">
              <a:solidFill>
                <a:srgbClr val="1B1F3B"/>
              </a:solidFill>
            </a:endParaRPr>
          </a:p>
        </p:txBody>
      </p:sp>
      <p:sp>
        <p:nvSpPr>
          <p:cNvPr id="497" name="Google Shape;497;p57"/>
          <p:cNvSpPr txBox="1"/>
          <p:nvPr>
            <p:ph idx="5" type="subTitle"/>
          </p:nvPr>
        </p:nvSpPr>
        <p:spPr>
          <a:xfrm>
            <a:off x="6296137" y="2782739"/>
            <a:ext cx="2613600" cy="542100"/>
          </a:xfrm>
          <a:prstGeom prst="rect">
            <a:avLst/>
          </a:prstGeom>
        </p:spPr>
        <p:txBody>
          <a:bodyPr anchorCtr="0" anchor="t" bIns="99750" lIns="99750" spcFirstLastPara="1" rIns="99750" wrap="square" tIns="9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18">
                <a:solidFill>
                  <a:srgbClr val="1B1F3B"/>
                </a:solidFill>
              </a:rPr>
              <a:t>Wear &amp; return</a:t>
            </a:r>
            <a:endParaRPr sz="2618">
              <a:solidFill>
                <a:srgbClr val="1B1F3B"/>
              </a:solidFill>
            </a:endParaRPr>
          </a:p>
        </p:txBody>
      </p:sp>
      <p:sp>
        <p:nvSpPr>
          <p:cNvPr id="498" name="Google Shape;498;p57"/>
          <p:cNvSpPr txBox="1"/>
          <p:nvPr>
            <p:ph idx="6" type="subTitle"/>
          </p:nvPr>
        </p:nvSpPr>
        <p:spPr>
          <a:xfrm>
            <a:off x="6503639" y="3221604"/>
            <a:ext cx="2198700" cy="624900"/>
          </a:xfrm>
          <a:prstGeom prst="rect">
            <a:avLst/>
          </a:prstGeom>
        </p:spPr>
        <p:txBody>
          <a:bodyPr anchorCtr="0" anchor="t" bIns="99750" lIns="99750" spcFirstLastPara="1" rIns="99750" wrap="square" tIns="99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527">
                <a:solidFill>
                  <a:srgbClr val="1B1F3B"/>
                </a:solidFill>
              </a:rPr>
              <a:t>Wear it, return it, get paid.</a:t>
            </a:r>
            <a:endParaRPr sz="1527">
              <a:solidFill>
                <a:srgbClr val="1B1F3B"/>
              </a:solidFill>
            </a:endParaRPr>
          </a:p>
        </p:txBody>
      </p:sp>
      <p:grpSp>
        <p:nvGrpSpPr>
          <p:cNvPr id="499" name="Google Shape;499;p57"/>
          <p:cNvGrpSpPr/>
          <p:nvPr/>
        </p:nvGrpSpPr>
        <p:grpSpPr>
          <a:xfrm>
            <a:off x="941122" y="1650651"/>
            <a:ext cx="1230690" cy="1132089"/>
            <a:chOff x="3173876" y="1739175"/>
            <a:chExt cx="1011000" cy="930000"/>
          </a:xfrm>
        </p:grpSpPr>
        <p:sp>
          <p:nvSpPr>
            <p:cNvPr id="500" name="Google Shape;500;p57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rgbClr val="F5F2EE"/>
            </a:solidFill>
            <a:ln cap="flat" cmpd="sng" w="347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300" lIns="111300" spcFirstLastPara="1" rIns="111300" wrap="square" tIns="111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4"/>
            </a:p>
          </p:txBody>
        </p:sp>
        <p:sp>
          <p:nvSpPr>
            <p:cNvPr id="501" name="Google Shape;501;p57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1300" lIns="111300" spcFirstLastPara="1" rIns="111300" wrap="square" tIns="111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61">
                  <a:solidFill>
                    <a:srgbClr val="1B1F3B"/>
                  </a:solidFill>
                  <a:latin typeface="Vidaloka"/>
                  <a:ea typeface="Vidaloka"/>
                  <a:cs typeface="Vidaloka"/>
                  <a:sym typeface="Vidaloka"/>
                </a:rPr>
                <a:t>01</a:t>
              </a:r>
              <a:endParaRPr sz="4261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grpSp>
        <p:nvGrpSpPr>
          <p:cNvPr id="502" name="Google Shape;502;p57"/>
          <p:cNvGrpSpPr/>
          <p:nvPr/>
        </p:nvGrpSpPr>
        <p:grpSpPr>
          <a:xfrm>
            <a:off x="3964384" y="1650651"/>
            <a:ext cx="1230690" cy="1132089"/>
            <a:chOff x="3173876" y="1739175"/>
            <a:chExt cx="1011000" cy="930000"/>
          </a:xfrm>
        </p:grpSpPr>
        <p:sp>
          <p:nvSpPr>
            <p:cNvPr id="503" name="Google Shape;503;p57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rgbClr val="F5F2EE"/>
            </a:solidFill>
            <a:ln cap="flat" cmpd="sng" w="347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300" lIns="111300" spcFirstLastPara="1" rIns="111300" wrap="square" tIns="111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57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1300" lIns="111300" spcFirstLastPara="1" rIns="111300" wrap="square" tIns="111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61">
                  <a:solidFill>
                    <a:srgbClr val="1B1F3B"/>
                  </a:solidFill>
                  <a:latin typeface="Vidaloka"/>
                  <a:ea typeface="Vidaloka"/>
                  <a:cs typeface="Vidaloka"/>
                  <a:sym typeface="Vidaloka"/>
                </a:rPr>
                <a:t>02</a:t>
              </a:r>
              <a:endParaRPr sz="4261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grpSp>
        <p:nvGrpSpPr>
          <p:cNvPr id="505" name="Google Shape;505;p57"/>
          <p:cNvGrpSpPr/>
          <p:nvPr/>
        </p:nvGrpSpPr>
        <p:grpSpPr>
          <a:xfrm>
            <a:off x="6987646" y="1650651"/>
            <a:ext cx="1230690" cy="1132089"/>
            <a:chOff x="3173876" y="1739175"/>
            <a:chExt cx="1011000" cy="930000"/>
          </a:xfrm>
        </p:grpSpPr>
        <p:sp>
          <p:nvSpPr>
            <p:cNvPr id="506" name="Google Shape;506;p57"/>
            <p:cNvSpPr/>
            <p:nvPr/>
          </p:nvSpPr>
          <p:spPr>
            <a:xfrm>
              <a:off x="3214375" y="1739175"/>
              <a:ext cx="930000" cy="930000"/>
            </a:xfrm>
            <a:prstGeom prst="rect">
              <a:avLst/>
            </a:prstGeom>
            <a:solidFill>
              <a:srgbClr val="F5F2EE"/>
            </a:solidFill>
            <a:ln cap="flat" cmpd="sng" w="347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300" lIns="111300" spcFirstLastPara="1" rIns="111300" wrap="square" tIns="111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57"/>
            <p:cNvSpPr txBox="1"/>
            <p:nvPr/>
          </p:nvSpPr>
          <p:spPr>
            <a:xfrm>
              <a:off x="3173876" y="1870425"/>
              <a:ext cx="1011000" cy="6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1300" lIns="111300" spcFirstLastPara="1" rIns="111300" wrap="square" tIns="111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261">
                  <a:solidFill>
                    <a:srgbClr val="1B1F3B"/>
                  </a:solidFill>
                  <a:latin typeface="Vidaloka"/>
                  <a:ea typeface="Vidaloka"/>
                  <a:cs typeface="Vidaloka"/>
                  <a:sym typeface="Vidaloka"/>
                </a:rPr>
                <a:t>03</a:t>
              </a:r>
              <a:endParaRPr sz="4261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endParaRPr>
            </a:p>
          </p:txBody>
        </p:sp>
      </p:grpSp>
      <p:sp>
        <p:nvSpPr>
          <p:cNvPr id="508" name="Google Shape;508;p5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/>
              <a:t>How it Works?</a:t>
            </a:r>
            <a:endParaRPr sz="4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Invest?</a:t>
            </a:r>
            <a:endParaRPr sz="3600"/>
          </a:p>
        </p:txBody>
      </p:sp>
      <p:sp>
        <p:nvSpPr>
          <p:cNvPr id="514" name="Google Shape;514;p58"/>
          <p:cNvSpPr txBox="1"/>
          <p:nvPr>
            <p:ph idx="1" type="subTitle"/>
          </p:nvPr>
        </p:nvSpPr>
        <p:spPr>
          <a:xfrm>
            <a:off x="3181849" y="2329526"/>
            <a:ext cx="2907900" cy="525900"/>
          </a:xfrm>
          <a:prstGeom prst="rect">
            <a:avLst/>
          </a:prstGeom>
        </p:spPr>
        <p:txBody>
          <a:bodyPr anchorCtr="0" anchor="t" bIns="108300" lIns="108300" spcFirstLastPara="1" rIns="108300" wrap="square" tIns="1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43">
                <a:solidFill>
                  <a:srgbClr val="1B1F3B"/>
                </a:solidFill>
              </a:rPr>
              <a:t>Growing Market</a:t>
            </a:r>
            <a:endParaRPr sz="2843">
              <a:solidFill>
                <a:srgbClr val="1B1F3B"/>
              </a:solidFill>
            </a:endParaRPr>
          </a:p>
        </p:txBody>
      </p:sp>
      <p:sp>
        <p:nvSpPr>
          <p:cNvPr id="515" name="Google Shape;515;p58"/>
          <p:cNvSpPr txBox="1"/>
          <p:nvPr>
            <p:ph idx="2" type="subTitle"/>
          </p:nvPr>
        </p:nvSpPr>
        <p:spPr>
          <a:xfrm>
            <a:off x="3376407" y="2825413"/>
            <a:ext cx="2519100" cy="963300"/>
          </a:xfrm>
          <a:prstGeom prst="rect">
            <a:avLst/>
          </a:prstGeom>
        </p:spPr>
        <p:txBody>
          <a:bodyPr anchorCtr="0" anchor="t" bIns="108300" lIns="108300" spcFirstLastPara="1" rIns="108300" wrap="square" tIns="1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9">
                <a:solidFill>
                  <a:srgbClr val="1B1F3B"/>
                </a:solidFill>
              </a:rPr>
              <a:t>The European fashion rental market is expanding rapidly.</a:t>
            </a:r>
            <a:endParaRPr sz="1659">
              <a:solidFill>
                <a:srgbClr val="1B1F3B"/>
              </a:solidFill>
            </a:endParaRPr>
          </a:p>
        </p:txBody>
      </p:sp>
      <p:sp>
        <p:nvSpPr>
          <p:cNvPr id="516" name="Google Shape;516;p58"/>
          <p:cNvSpPr txBox="1"/>
          <p:nvPr>
            <p:ph idx="3" type="subTitle"/>
          </p:nvPr>
        </p:nvSpPr>
        <p:spPr>
          <a:xfrm>
            <a:off x="10426" y="2329519"/>
            <a:ext cx="3434700" cy="525900"/>
          </a:xfrm>
          <a:prstGeom prst="rect">
            <a:avLst/>
          </a:prstGeom>
        </p:spPr>
        <p:txBody>
          <a:bodyPr anchorCtr="0" anchor="t" bIns="108300" lIns="108300" spcFirstLastPara="1" rIns="108300" wrap="square" tIns="1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43">
                <a:solidFill>
                  <a:srgbClr val="1B1F3B"/>
                </a:solidFill>
              </a:rPr>
              <a:t>First Mover</a:t>
            </a:r>
            <a:endParaRPr sz="2843">
              <a:solidFill>
                <a:srgbClr val="1B1F3B"/>
              </a:solidFill>
            </a:endParaRPr>
          </a:p>
        </p:txBody>
      </p:sp>
      <p:sp>
        <p:nvSpPr>
          <p:cNvPr id="517" name="Google Shape;517;p58"/>
          <p:cNvSpPr txBox="1"/>
          <p:nvPr>
            <p:ph idx="4" type="subTitle"/>
          </p:nvPr>
        </p:nvSpPr>
        <p:spPr>
          <a:xfrm>
            <a:off x="468329" y="2825413"/>
            <a:ext cx="2519100" cy="963300"/>
          </a:xfrm>
          <a:prstGeom prst="rect">
            <a:avLst/>
          </a:prstGeom>
        </p:spPr>
        <p:txBody>
          <a:bodyPr anchorCtr="0" anchor="t" bIns="108300" lIns="108300" spcFirstLastPara="1" rIns="108300" wrap="square" tIns="1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9">
                <a:solidFill>
                  <a:srgbClr val="1B1F3B"/>
                </a:solidFill>
              </a:rPr>
              <a:t>First P2P fashion rental platform in Bulgaria.</a:t>
            </a:r>
            <a:endParaRPr sz="1659">
              <a:solidFill>
                <a:srgbClr val="1B1F3B"/>
              </a:solidFill>
            </a:endParaRPr>
          </a:p>
        </p:txBody>
      </p:sp>
      <p:pic>
        <p:nvPicPr>
          <p:cNvPr id="518" name="Google Shape;518;p58" title="podiu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181" y="1634175"/>
            <a:ext cx="773649" cy="773649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8"/>
          <p:cNvSpPr txBox="1"/>
          <p:nvPr>
            <p:ph idx="5" type="subTitle"/>
          </p:nvPr>
        </p:nvSpPr>
        <p:spPr>
          <a:xfrm>
            <a:off x="6284273" y="2329521"/>
            <a:ext cx="2519100" cy="525900"/>
          </a:xfrm>
          <a:prstGeom prst="rect">
            <a:avLst/>
          </a:prstGeom>
        </p:spPr>
        <p:txBody>
          <a:bodyPr anchorCtr="0" anchor="t" bIns="108300" lIns="108300" spcFirstLastPara="1" rIns="108300" wrap="square" tIns="1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43">
                <a:solidFill>
                  <a:srgbClr val="1B1F3B"/>
                </a:solidFill>
              </a:rPr>
              <a:t>Sustainability</a:t>
            </a:r>
            <a:endParaRPr sz="2843">
              <a:solidFill>
                <a:srgbClr val="1B1F3B"/>
              </a:solidFill>
            </a:endParaRPr>
          </a:p>
        </p:txBody>
      </p:sp>
      <p:sp>
        <p:nvSpPr>
          <p:cNvPr id="520" name="Google Shape;520;p58"/>
          <p:cNvSpPr txBox="1"/>
          <p:nvPr>
            <p:ph idx="6" type="subTitle"/>
          </p:nvPr>
        </p:nvSpPr>
        <p:spPr>
          <a:xfrm>
            <a:off x="6284273" y="2825413"/>
            <a:ext cx="2519100" cy="963300"/>
          </a:xfrm>
          <a:prstGeom prst="rect">
            <a:avLst/>
          </a:prstGeom>
        </p:spPr>
        <p:txBody>
          <a:bodyPr anchorCtr="0" anchor="t" bIns="108300" lIns="108300" spcFirstLastPara="1" rIns="108300" wrap="square" tIns="108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9">
                <a:solidFill>
                  <a:srgbClr val="1B1F3B"/>
                </a:solidFill>
              </a:rPr>
              <a:t>Consumers today choose brands that reduce waste.</a:t>
            </a:r>
            <a:endParaRPr sz="1659">
              <a:solidFill>
                <a:srgbClr val="1B1F3B"/>
              </a:solidFill>
            </a:endParaRPr>
          </a:p>
        </p:txBody>
      </p:sp>
      <p:pic>
        <p:nvPicPr>
          <p:cNvPr id="521" name="Google Shape;521;p58" title="stock-marke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9059" y="1634176"/>
            <a:ext cx="773649" cy="77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8" title="recycl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56948" y="1634175"/>
            <a:ext cx="773649" cy="77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9"/>
          <p:cNvSpPr txBox="1"/>
          <p:nvPr>
            <p:ph type="title"/>
          </p:nvPr>
        </p:nvSpPr>
        <p:spPr>
          <a:xfrm>
            <a:off x="1043725" y="922575"/>
            <a:ext cx="3013500" cy="13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1B1F3B"/>
                </a:solidFill>
              </a:rPr>
              <a:t>Why Work at Drssed?</a:t>
            </a:r>
            <a:endParaRPr sz="4200">
              <a:solidFill>
                <a:srgbClr val="1B1F3B"/>
              </a:solidFill>
            </a:endParaRPr>
          </a:p>
        </p:txBody>
      </p:sp>
      <p:sp>
        <p:nvSpPr>
          <p:cNvPr id="528" name="Google Shape;528;p59"/>
          <p:cNvSpPr txBox="1"/>
          <p:nvPr>
            <p:ph idx="1" type="subTitle"/>
          </p:nvPr>
        </p:nvSpPr>
        <p:spPr>
          <a:xfrm>
            <a:off x="936200" y="2477265"/>
            <a:ext cx="34500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700"/>
              <a:buFont typeface="Vidaloka"/>
              <a:buChar char="●"/>
            </a:pPr>
            <a:r>
              <a:rPr lang="en" sz="2700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rPr>
              <a:t>Build from zero</a:t>
            </a:r>
            <a:endParaRPr sz="2700">
              <a:solidFill>
                <a:srgbClr val="1B1F3B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700"/>
              <a:buFont typeface="Vidaloka"/>
              <a:buChar char="●"/>
            </a:pPr>
            <a:r>
              <a:rPr lang="en" sz="2700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rPr>
              <a:t>Purpose-driven</a:t>
            </a:r>
            <a:endParaRPr sz="2700">
              <a:solidFill>
                <a:srgbClr val="1B1F3B"/>
              </a:solidFill>
              <a:latin typeface="Vidaloka"/>
              <a:ea typeface="Vidaloka"/>
              <a:cs typeface="Vidaloka"/>
              <a:sym typeface="Vidaloka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2700"/>
              <a:buFont typeface="Vidaloka"/>
              <a:buChar char="●"/>
            </a:pPr>
            <a:r>
              <a:rPr lang="en" sz="2700">
                <a:solidFill>
                  <a:srgbClr val="1B1F3B"/>
                </a:solidFill>
                <a:latin typeface="Vidaloka"/>
                <a:ea typeface="Vidaloka"/>
                <a:cs typeface="Vidaloka"/>
                <a:sym typeface="Vidaloka"/>
              </a:rPr>
              <a:t>Ground floor</a:t>
            </a:r>
            <a:endParaRPr sz="2700">
              <a:solidFill>
                <a:srgbClr val="1B1F3B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529" name="Google Shape;529;p59"/>
          <p:cNvPicPr preferRelativeResize="0"/>
          <p:nvPr/>
        </p:nvPicPr>
        <p:blipFill rotWithShape="1">
          <a:blip r:embed="rId3">
            <a:alphaModFix/>
          </a:blip>
          <a:srcRect b="0" l="16897" r="16891" t="0"/>
          <a:stretch/>
        </p:blipFill>
        <p:spPr>
          <a:xfrm>
            <a:off x="4931700" y="1054650"/>
            <a:ext cx="3013500" cy="3034200"/>
          </a:xfrm>
          <a:prstGeom prst="rect">
            <a:avLst/>
          </a:prstGeom>
          <a:noFill/>
          <a:ln cap="flat" cmpd="sng" w="28575">
            <a:solidFill>
              <a:srgbClr val="1B1F3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type="title"/>
          </p:nvPr>
        </p:nvSpPr>
        <p:spPr>
          <a:xfrm>
            <a:off x="1109850" y="1549888"/>
            <a:ext cx="69243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1F3B"/>
                </a:solidFill>
              </a:rPr>
              <a:t>Get in Touch</a:t>
            </a:r>
            <a:endParaRPr>
              <a:solidFill>
                <a:srgbClr val="1B1F3B"/>
              </a:solidFill>
            </a:endParaRPr>
          </a:p>
        </p:txBody>
      </p:sp>
      <p:sp>
        <p:nvSpPr>
          <p:cNvPr id="535" name="Google Shape;535;p60"/>
          <p:cNvSpPr txBox="1"/>
          <p:nvPr>
            <p:ph idx="1" type="subTitle"/>
          </p:nvPr>
        </p:nvSpPr>
        <p:spPr>
          <a:xfrm>
            <a:off x="1915050" y="2866317"/>
            <a:ext cx="53139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B1F3B"/>
                </a:solidFill>
              </a:rPr>
              <a:t>www.drssed.bg | hello@drrsed.bg +359 88 770 1234 | @drssed.bg</a:t>
            </a:r>
            <a:endParaRPr sz="2300">
              <a:solidFill>
                <a:srgbClr val="1B1F3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1"/>
          <p:cNvSpPr txBox="1"/>
          <p:nvPr>
            <p:ph type="title"/>
          </p:nvPr>
        </p:nvSpPr>
        <p:spPr>
          <a:xfrm>
            <a:off x="1122450" y="1393725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0"/>
              <a:t>Thank You</a:t>
            </a:r>
            <a:endParaRPr sz="10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